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AIARHWQqRMjYonK9ussd+0SFm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 name="Shape 27"/>
        <p:cNvGrpSpPr/>
        <p:nvPr/>
      </p:nvGrpSpPr>
      <p:grpSpPr>
        <a:xfrm>
          <a:off x="0" y="0"/>
          <a:ext cx="0" cy="0"/>
          <a:chOff x="0" y="0"/>
          <a:chExt cx="0" cy="0"/>
        </a:xfrm>
      </p:grpSpPr>
      <p:sp>
        <p:nvSpPr>
          <p:cNvPr id="28" name="Google Shape;28;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0" name="Google Shape;30;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1" name="Google Shape;3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600200"/>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lang="en-US"/>
              <a:t>Video games popularity and sales analysis</a:t>
            </a:r>
            <a:br>
              <a:rPr lang="en-US"/>
            </a:br>
            <a:r>
              <a:rPr lang="en-US" sz="2700">
                <a:solidFill>
                  <a:schemeClr val="lt1"/>
                </a:solidFill>
              </a:rPr>
              <a:t>a</a:t>
            </a:r>
            <a:br>
              <a:rPr lang="en-US"/>
            </a:br>
            <a:r>
              <a:rPr lang="en-US" sz="4900"/>
              <a:t>Group 15</a:t>
            </a:r>
            <a:br>
              <a:rPr lang="en-US"/>
            </a:b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400"/>
              <a:buNone/>
            </a:pPr>
            <a:r>
              <a:rPr lang="en-US"/>
              <a:t>Group members: </a:t>
            </a:r>
            <a:endParaRPr/>
          </a:p>
          <a:p>
            <a:pPr indent="0" lvl="0" marL="0" rtl="0" algn="ctr">
              <a:lnSpc>
                <a:spcPct val="90000"/>
              </a:lnSpc>
              <a:spcBef>
                <a:spcPts val="1000"/>
              </a:spcBef>
              <a:spcAft>
                <a:spcPts val="0"/>
              </a:spcAft>
              <a:buClr>
                <a:schemeClr val="dk1"/>
              </a:buClr>
              <a:buSzPts val="2400"/>
              <a:buNone/>
            </a:pPr>
            <a:r>
              <a:rPr lang="en-US"/>
              <a:t>Tushar Rao </a:t>
            </a:r>
            <a:br>
              <a:rPr lang="en-US"/>
            </a:br>
            <a:r>
              <a:rPr lang="en-US"/>
              <a:t>Yiwei Li</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Data exploration</a:t>
            </a:r>
            <a:endParaRPr/>
          </a:p>
        </p:txBody>
      </p:sp>
      <p:sp>
        <p:nvSpPr>
          <p:cNvPr id="95" name="Google Shape;9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We analyzed the distributions of some attributes to get an idea about the distribution of the data</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Text, letter&#10;&#10;Description automatically generated" id="96" name="Google Shape;96;p3"/>
          <p:cNvPicPr preferRelativeResize="0"/>
          <p:nvPr/>
        </p:nvPicPr>
        <p:blipFill rotWithShape="1">
          <a:blip r:embed="rId3">
            <a:alphaModFix/>
          </a:blip>
          <a:srcRect b="0" l="0" r="0" t="0"/>
          <a:stretch/>
        </p:blipFill>
        <p:spPr>
          <a:xfrm>
            <a:off x="2246550" y="2386330"/>
            <a:ext cx="7698900" cy="36715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idx="2" type="body"/>
          </p:nvPr>
        </p:nvSpPr>
        <p:spPr>
          <a:xfrm>
            <a:off x="1210491" y="1517214"/>
            <a:ext cx="2026980" cy="381158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1600"/>
              <a:buNone/>
            </a:pPr>
            <a:r>
              <a:rPr b="1" lang="en-US"/>
              <a:t>The sales amount reached the highest in 2006 in North America, and the sales amount suffered a relatively low sales amount period between 1991 to 2005.</a:t>
            </a:r>
            <a:endParaRPr/>
          </a:p>
          <a:p>
            <a:pPr indent="0" lvl="0" marL="0" rtl="0" algn="l">
              <a:lnSpc>
                <a:spcPct val="90000"/>
              </a:lnSpc>
              <a:spcBef>
                <a:spcPts val="1000"/>
              </a:spcBef>
              <a:spcAft>
                <a:spcPts val="0"/>
              </a:spcAft>
              <a:buClr>
                <a:schemeClr val="dk1"/>
              </a:buClr>
              <a:buSzPts val="1600"/>
              <a:buNone/>
            </a:pPr>
            <a:r>
              <a:t/>
            </a:r>
            <a:endParaRPr b="1"/>
          </a:p>
        </p:txBody>
      </p:sp>
      <p:pic>
        <p:nvPicPr>
          <p:cNvPr descr="Graphical user interface, application&#10;&#10;Description automatically generated" id="102" name="Google Shape;102;p4"/>
          <p:cNvPicPr preferRelativeResize="0"/>
          <p:nvPr>
            <p:ph idx="1" type="body"/>
          </p:nvPr>
        </p:nvPicPr>
        <p:blipFill rotWithShape="1">
          <a:blip r:embed="rId3">
            <a:alphaModFix/>
          </a:blip>
          <a:srcRect b="0" l="0" r="0" t="0"/>
          <a:stretch/>
        </p:blipFill>
        <p:spPr>
          <a:xfrm>
            <a:off x="4182291" y="1519673"/>
            <a:ext cx="6172200" cy="38091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idx="2" type="body"/>
          </p:nvPr>
        </p:nvSpPr>
        <p:spPr>
          <a:xfrm>
            <a:off x="1210491" y="1517214"/>
            <a:ext cx="2026980" cy="381158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50000"/>
              </a:lnSpc>
              <a:spcBef>
                <a:spcPts val="0"/>
              </a:spcBef>
              <a:spcAft>
                <a:spcPts val="0"/>
              </a:spcAft>
              <a:buClr>
                <a:schemeClr val="dk1"/>
              </a:buClr>
              <a:buSzPct val="100000"/>
              <a:buNone/>
            </a:pPr>
            <a:r>
              <a:rPr b="1" lang="en-US"/>
              <a:t>The sales amount also reached the highest in 2006 in Japan, and the sales amount distribution is much lower during 1980 to 2005, and the sales amount between 2007 to 2016 was stable.</a:t>
            </a:r>
            <a:endParaRPr/>
          </a:p>
          <a:p>
            <a:pPr indent="0" lvl="0" marL="0" rtl="0" algn="l">
              <a:lnSpc>
                <a:spcPct val="90000"/>
              </a:lnSpc>
              <a:spcBef>
                <a:spcPts val="1000"/>
              </a:spcBef>
              <a:spcAft>
                <a:spcPts val="0"/>
              </a:spcAft>
              <a:buClr>
                <a:schemeClr val="dk1"/>
              </a:buClr>
              <a:buSzPct val="100000"/>
              <a:buNone/>
            </a:pPr>
            <a:r>
              <a:t/>
            </a:r>
            <a:endParaRPr b="1"/>
          </a:p>
        </p:txBody>
      </p:sp>
      <p:pic>
        <p:nvPicPr>
          <p:cNvPr id="108" name="Google Shape;108;p5"/>
          <p:cNvPicPr preferRelativeResize="0"/>
          <p:nvPr>
            <p:ph idx="1" type="body"/>
          </p:nvPr>
        </p:nvPicPr>
        <p:blipFill rotWithShape="1">
          <a:blip r:embed="rId3">
            <a:alphaModFix/>
          </a:blip>
          <a:srcRect b="0" l="0" r="0" t="0"/>
          <a:stretch/>
        </p:blipFill>
        <p:spPr>
          <a:xfrm>
            <a:off x="4293501" y="1517214"/>
            <a:ext cx="6172200" cy="38091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2" type="body"/>
          </p:nvPr>
        </p:nvSpPr>
        <p:spPr>
          <a:xfrm>
            <a:off x="1272275" y="1519673"/>
            <a:ext cx="2026980" cy="381158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1600"/>
              <a:buNone/>
            </a:pPr>
            <a:r>
              <a:rPr b="1" lang="en-US"/>
              <a:t>The sales amount reached the highest in 1996 in Japan, and the overall sales amount are relatively high, but it begins to decrease from the recent years.</a:t>
            </a:r>
            <a:endParaRPr/>
          </a:p>
          <a:p>
            <a:pPr indent="0" lvl="0" marL="0" rtl="0" algn="l">
              <a:lnSpc>
                <a:spcPct val="90000"/>
              </a:lnSpc>
              <a:spcBef>
                <a:spcPts val="1000"/>
              </a:spcBef>
              <a:spcAft>
                <a:spcPts val="0"/>
              </a:spcAft>
              <a:buClr>
                <a:schemeClr val="dk1"/>
              </a:buClr>
              <a:buSzPts val="1600"/>
              <a:buNone/>
            </a:pPr>
            <a:r>
              <a:t/>
            </a:r>
            <a:endParaRPr b="1"/>
          </a:p>
        </p:txBody>
      </p:sp>
      <p:pic>
        <p:nvPicPr>
          <p:cNvPr descr="Chart, bar chart&#10;&#10;Description automatically generated" id="114" name="Google Shape;114;p6"/>
          <p:cNvPicPr preferRelativeResize="0"/>
          <p:nvPr>
            <p:ph idx="1" type="body"/>
          </p:nvPr>
        </p:nvPicPr>
        <p:blipFill rotWithShape="1">
          <a:blip r:embed="rId3">
            <a:alphaModFix/>
          </a:blip>
          <a:srcRect b="0" l="0" r="0" t="0"/>
          <a:stretch/>
        </p:blipFill>
        <p:spPr>
          <a:xfrm>
            <a:off x="4429425" y="1519673"/>
            <a:ext cx="6172200" cy="380912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idx="2" type="body"/>
          </p:nvPr>
        </p:nvSpPr>
        <p:spPr>
          <a:xfrm>
            <a:off x="1272274" y="1519673"/>
            <a:ext cx="2545964" cy="4016154"/>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50000"/>
              </a:lnSpc>
              <a:spcBef>
                <a:spcPts val="0"/>
              </a:spcBef>
              <a:spcAft>
                <a:spcPts val="0"/>
              </a:spcAft>
              <a:buClr>
                <a:schemeClr val="dk1"/>
              </a:buClr>
              <a:buSzPct val="100000"/>
              <a:buNone/>
            </a:pPr>
            <a:r>
              <a:rPr b="1" lang="en-US"/>
              <a:t>Different from the North America and Europe, the sales amount reached the highest in 2004, but the amount in 2006 is the second highest in 40 years. Compared to North America, Europe and Japan, the sales amount before 2004 was much lower, this may related to the economy develop degree. </a:t>
            </a:r>
            <a:endParaRPr/>
          </a:p>
          <a:p>
            <a:pPr indent="0" lvl="0" marL="0" rtl="0" algn="l">
              <a:lnSpc>
                <a:spcPct val="90000"/>
              </a:lnSpc>
              <a:spcBef>
                <a:spcPts val="1000"/>
              </a:spcBef>
              <a:spcAft>
                <a:spcPts val="0"/>
              </a:spcAft>
              <a:buClr>
                <a:schemeClr val="dk1"/>
              </a:buClr>
              <a:buSzPct val="100000"/>
              <a:buNone/>
            </a:pPr>
            <a:r>
              <a:t/>
            </a:r>
            <a:endParaRPr b="1" sz="1000"/>
          </a:p>
        </p:txBody>
      </p:sp>
      <p:pic>
        <p:nvPicPr>
          <p:cNvPr descr="Chart&#10;&#10;Description automatically generated" id="120" name="Google Shape;120;p7"/>
          <p:cNvPicPr preferRelativeResize="0"/>
          <p:nvPr>
            <p:ph idx="1" type="body"/>
          </p:nvPr>
        </p:nvPicPr>
        <p:blipFill rotWithShape="1">
          <a:blip r:embed="rId3">
            <a:alphaModFix/>
          </a:blip>
          <a:srcRect b="0" l="0" r="0" t="0"/>
          <a:stretch/>
        </p:blipFill>
        <p:spPr>
          <a:xfrm>
            <a:off x="4503566" y="1522132"/>
            <a:ext cx="6172200" cy="38091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sp>
        <p:nvSpPr>
          <p:cNvPr id="125" name="Google Shape;125;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6" name="Google Shape;126;p8"/>
          <p:cNvSpPr/>
          <p:nvPr/>
        </p:nvSpPr>
        <p:spPr>
          <a:xfrm>
            <a:off x="0" y="587931"/>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7" name="Google Shape;127;p8"/>
          <p:cNvSpPr/>
          <p:nvPr/>
        </p:nvSpPr>
        <p:spPr>
          <a:xfrm>
            <a:off x="7543801" y="1721922"/>
            <a:ext cx="4218432" cy="4520560"/>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8" name="Google Shape;128;p8"/>
          <p:cNvSpPr txBox="1"/>
          <p:nvPr>
            <p:ph idx="1" type="body"/>
          </p:nvPr>
        </p:nvSpPr>
        <p:spPr>
          <a:xfrm>
            <a:off x="7938752" y="2020824"/>
            <a:ext cx="3455097" cy="3959352"/>
          </a:xfrm>
          <a:prstGeom prst="rect">
            <a:avLst/>
          </a:prstGeom>
          <a:noFill/>
          <a:ln>
            <a:noFill/>
          </a:ln>
        </p:spPr>
        <p:txBody>
          <a:bodyPr anchorCtr="0" anchor="ctr" bIns="45700" lIns="91425" spcFirstLastPara="1" rIns="91425" wrap="square" tIns="45700">
            <a:normAutofit fontScale="85000" lnSpcReduction="10000"/>
          </a:bodyPr>
          <a:lstStyle/>
          <a:p>
            <a:pPr indent="-228600" lvl="0" marL="228600" rtl="0" algn="l">
              <a:lnSpc>
                <a:spcPct val="150000"/>
              </a:lnSpc>
              <a:spcBef>
                <a:spcPts val="0"/>
              </a:spcBef>
              <a:spcAft>
                <a:spcPts val="0"/>
              </a:spcAft>
              <a:buClr>
                <a:schemeClr val="dk1"/>
              </a:buClr>
              <a:buSzPct val="100000"/>
              <a:buChar char="•"/>
            </a:pPr>
            <a:r>
              <a:rPr lang="en-US" sz="1800"/>
              <a:t>There are 12 kinds of games released in the past 40 years, from the bar chart above we could see that the “Action” might be the most popular genre since it had the most released number especially between 2010 and 2013. However, the “Fighting” one has the lowest value, this may due to some juvenile protection policies in some areas.</a:t>
            </a:r>
            <a:endParaRPr/>
          </a:p>
          <a:p>
            <a:pPr indent="-131445" lvl="0" marL="228600" rtl="0" algn="l">
              <a:lnSpc>
                <a:spcPct val="90000"/>
              </a:lnSpc>
              <a:spcBef>
                <a:spcPts val="1000"/>
              </a:spcBef>
              <a:spcAft>
                <a:spcPts val="0"/>
              </a:spcAft>
              <a:buClr>
                <a:schemeClr val="dk1"/>
              </a:buClr>
              <a:buSzPct val="100000"/>
              <a:buNone/>
            </a:pPr>
            <a:r>
              <a:t/>
            </a:r>
            <a:endParaRPr sz="1800"/>
          </a:p>
        </p:txBody>
      </p:sp>
      <p:pic>
        <p:nvPicPr>
          <p:cNvPr descr="Chart&#10;&#10;Description automatically generated" id="129" name="Google Shape;129;p8"/>
          <p:cNvPicPr preferRelativeResize="0"/>
          <p:nvPr/>
        </p:nvPicPr>
        <p:blipFill rotWithShape="1">
          <a:blip r:embed="rId3">
            <a:alphaModFix/>
          </a:blip>
          <a:srcRect b="0" l="0" r="0" t="0"/>
          <a:stretch/>
        </p:blipFill>
        <p:spPr>
          <a:xfrm>
            <a:off x="650983" y="1292019"/>
            <a:ext cx="6652450" cy="45205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5" name="Google Shape;135;p9"/>
          <p:cNvSpPr/>
          <p:nvPr/>
        </p:nvSpPr>
        <p:spPr>
          <a:xfrm>
            <a:off x="554416" y="365125"/>
            <a:ext cx="11167447" cy="2089317"/>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C5C2C2">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6" name="Google Shape;136;p9"/>
          <p:cNvSpPr txBox="1"/>
          <p:nvPr>
            <p:ph type="title"/>
          </p:nvPr>
        </p:nvSpPr>
        <p:spPr>
          <a:xfrm>
            <a:off x="1046746" y="641850"/>
            <a:ext cx="3611880" cy="153586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1" lang="en-US" sz="3200"/>
              <a:t>Data Preparation and Preprocessing </a:t>
            </a:r>
            <a:endParaRPr/>
          </a:p>
        </p:txBody>
      </p:sp>
      <p:sp>
        <p:nvSpPr>
          <p:cNvPr id="137" name="Google Shape;137;p9"/>
          <p:cNvSpPr/>
          <p:nvPr/>
        </p:nvSpPr>
        <p:spPr>
          <a:xfrm>
            <a:off x="490408" y="1057739"/>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8" name="Google Shape;138;p9"/>
          <p:cNvSpPr/>
          <p:nvPr/>
        </p:nvSpPr>
        <p:spPr>
          <a:xfrm rot="5400000">
            <a:off x="4243541" y="1400638"/>
            <a:ext cx="146304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9" name="Google Shape;139;p9"/>
          <p:cNvSpPr txBox="1"/>
          <p:nvPr/>
        </p:nvSpPr>
        <p:spPr>
          <a:xfrm>
            <a:off x="5300640" y="641850"/>
            <a:ext cx="6053160" cy="1535865"/>
          </a:xfrm>
          <a:prstGeom prst="rect">
            <a:avLst/>
          </a:prstGeom>
          <a:noFill/>
          <a:ln>
            <a:noFill/>
          </a:ln>
        </p:spPr>
        <p:txBody>
          <a:bodyPr anchorCtr="0" anchor="ctr" bIns="45700" lIns="91425" spcFirstLastPara="1" rIns="91425" wrap="square" tIns="45700">
            <a:normAutofit/>
          </a:bodyPr>
          <a:lstStyle/>
          <a:p>
            <a:pPr indent="0" lvl="0" marL="0" marR="0" rtl="0" algn="l">
              <a:lnSpc>
                <a:spcPct val="15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We split 0.8 of the data for training and 0.2 for testing after delete the useless columns. And removed the last 2 column developer and rate from the dataset.</a:t>
            </a:r>
            <a:endParaRPr/>
          </a:p>
          <a:p>
            <a:pPr indent="114300" lvl="0" marL="0" marR="0" rtl="0" algn="l">
              <a:lnSpc>
                <a:spcPct val="90000"/>
              </a:lnSpc>
              <a:spcBef>
                <a:spcPts val="6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Text, letter&#10;&#10;Description automatically generated" id="140" name="Google Shape;140;p9"/>
          <p:cNvPicPr preferRelativeResize="0"/>
          <p:nvPr/>
        </p:nvPicPr>
        <p:blipFill rotWithShape="1">
          <a:blip r:embed="rId3">
            <a:alphaModFix/>
          </a:blip>
          <a:srcRect b="1" l="0" r="5470" t="0"/>
          <a:stretch/>
        </p:blipFill>
        <p:spPr>
          <a:xfrm>
            <a:off x="554416" y="2731167"/>
            <a:ext cx="11167447" cy="348498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10"/>
          <p:cNvSpPr txBox="1"/>
          <p:nvPr>
            <p:ph type="title"/>
          </p:nvPr>
        </p:nvSpPr>
        <p:spPr>
          <a:xfrm>
            <a:off x="1653363" y="365760"/>
            <a:ext cx="9367203"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700"/>
              <a:buFont typeface="Arial"/>
              <a:buNone/>
            </a:pPr>
            <a:r>
              <a:rPr b="1" lang="en-US" sz="3700"/>
              <a:t>Part1: KNN</a:t>
            </a:r>
            <a:r>
              <a:rPr lang="en-US" sz="3700"/>
              <a:t> ( k-nearest neighbors algorithm)</a:t>
            </a:r>
            <a:endParaRPr b="1" sz="3700"/>
          </a:p>
        </p:txBody>
      </p:sp>
      <p:sp>
        <p:nvSpPr>
          <p:cNvPr id="146" name="Google Shape;146;p10"/>
          <p:cNvSpPr/>
          <p:nvPr/>
        </p:nvSpPr>
        <p:spPr>
          <a:xfrm>
            <a:off x="1" y="0"/>
            <a:ext cx="1764099" cy="1558212"/>
          </a:xfrm>
          <a:custGeom>
            <a:rect b="b" l="l" r="r" t="t"/>
            <a:pathLst>
              <a:path extrusionOk="0" h="1558212" w="1764099">
                <a:moveTo>
                  <a:pt x="0" y="0"/>
                </a:moveTo>
                <a:lnTo>
                  <a:pt x="1764099" y="0"/>
                </a:lnTo>
                <a:lnTo>
                  <a:pt x="1042087" y="1558212"/>
                </a:lnTo>
                <a:lnTo>
                  <a:pt x="0" y="1558212"/>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7" name="Google Shape;147;p10"/>
          <p:cNvSpPr/>
          <p:nvPr/>
        </p:nvSpPr>
        <p:spPr>
          <a:xfrm>
            <a:off x="1" y="1691640"/>
            <a:ext cx="12191999" cy="5166360"/>
          </a:xfrm>
          <a:custGeom>
            <a:rect b="b" l="l" r="r" t="t"/>
            <a:pathLst>
              <a:path extrusionOk="0" h="5166360" w="12191999">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8" name="Google Shape;148;p10"/>
          <p:cNvSpPr/>
          <p:nvPr/>
        </p:nvSpPr>
        <p:spPr>
          <a:xfrm>
            <a:off x="0" y="1691641"/>
            <a:ext cx="971654" cy="2096979"/>
          </a:xfrm>
          <a:custGeom>
            <a:rect b="b" l="l" r="r" t="t"/>
            <a:pathLst>
              <a:path extrusionOk="0" h="2096979" w="971654">
                <a:moveTo>
                  <a:pt x="0" y="0"/>
                </a:moveTo>
                <a:lnTo>
                  <a:pt x="971654" y="0"/>
                </a:lnTo>
                <a:lnTo>
                  <a:pt x="0" y="2096979"/>
                </a:lnTo>
                <a:close/>
              </a:path>
            </a:pathLst>
          </a:cu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9" name="Google Shape;149;p10"/>
          <p:cNvSpPr txBox="1"/>
          <p:nvPr>
            <p:ph idx="1" type="body"/>
          </p:nvPr>
        </p:nvSpPr>
        <p:spPr>
          <a:xfrm>
            <a:off x="1653363" y="2176272"/>
            <a:ext cx="9367204" cy="404164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Data prepare:Choosing the relative variables:  Platform, Genre, Publisher, Critic_Score, User_Score.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400"/>
              <a:buChar char="•"/>
            </a:pPr>
            <a:r>
              <a:rPr lang="en-US" sz="2400"/>
              <a:t>Method:</a:t>
            </a:r>
            <a:r>
              <a:rPr lang="en-US"/>
              <a:t>Split the data into training data(80%) and validation data(20%). Then normalize them and put the training data into our knn models.</a:t>
            </a:r>
            <a:endParaRPr/>
          </a:p>
          <a:p>
            <a:pPr indent="-228600" lvl="0" marL="228600" rtl="0" algn="l">
              <a:lnSpc>
                <a:spcPct val="90000"/>
              </a:lnSpc>
              <a:spcBef>
                <a:spcPts val="1000"/>
              </a:spcBef>
              <a:spcAft>
                <a:spcPts val="0"/>
              </a:spcAft>
              <a:buClr>
                <a:schemeClr val="dk1"/>
              </a:buClr>
              <a:buSzPts val="2800"/>
              <a:buChar char="•"/>
            </a:pPr>
            <a:r>
              <a:rPr lang="en-US"/>
              <a:t>Then  Determing the best K</a:t>
            </a:r>
            <a:endParaRPr/>
          </a:p>
          <a:p>
            <a:pPr indent="-76200" lvl="0" marL="22860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KNN( k-nearest neighbors algorithm)</a:t>
            </a:r>
            <a:endParaRPr/>
          </a:p>
        </p:txBody>
      </p:sp>
      <p:sp>
        <p:nvSpPr>
          <p:cNvPr id="156" name="Google Shape;156;p11"/>
          <p:cNvSpPr txBox="1"/>
          <p:nvPr>
            <p:ph idx="1" type="body"/>
          </p:nvPr>
        </p:nvSpPr>
        <p:spPr>
          <a:xfrm>
            <a:off x="838200" y="1825625"/>
            <a:ext cx="10515600" cy="4894352"/>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Model:</a:t>
            </a:r>
            <a:endParaRPr/>
          </a:p>
          <a:p>
            <a:pPr indent="-228600" lvl="0" marL="228600" rtl="0" algn="l">
              <a:lnSpc>
                <a:spcPct val="90000"/>
              </a:lnSpc>
              <a:spcBef>
                <a:spcPts val="1000"/>
              </a:spcBef>
              <a:spcAft>
                <a:spcPts val="0"/>
              </a:spcAft>
              <a:buClr>
                <a:schemeClr val="dk1"/>
              </a:buClr>
              <a:buSzPct val="100000"/>
              <a:buChar char="•"/>
            </a:pPr>
            <a:r>
              <a:rPr lang="en-US"/>
              <a:t>Accuracy：</a:t>
            </a:r>
            <a:endParaRPr/>
          </a:p>
          <a:p>
            <a:pPr indent="-228600" lvl="0" marL="228600" rtl="0" algn="l">
              <a:lnSpc>
                <a:spcPct val="90000"/>
              </a:lnSpc>
              <a:spcBef>
                <a:spcPts val="1000"/>
              </a:spcBef>
              <a:spcAft>
                <a:spcPts val="0"/>
              </a:spcAft>
              <a:buClr>
                <a:schemeClr val="dk1"/>
              </a:buClr>
              <a:buSzPct val="100000"/>
              <a:buChar char="•"/>
            </a:pPr>
            <a:r>
              <a:rPr lang="en-US"/>
              <a:t>Best K-value</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Result </a:t>
            </a:r>
            <a:endParaRPr/>
          </a:p>
        </p:txBody>
      </p:sp>
      <p:pic>
        <p:nvPicPr>
          <p:cNvPr id="157" name="Google Shape;157;p11"/>
          <p:cNvPicPr preferRelativeResize="0"/>
          <p:nvPr/>
        </p:nvPicPr>
        <p:blipFill rotWithShape="1">
          <a:blip r:embed="rId3">
            <a:alphaModFix/>
          </a:blip>
          <a:srcRect b="0" l="0" r="0" t="0"/>
          <a:stretch/>
        </p:blipFill>
        <p:spPr>
          <a:xfrm>
            <a:off x="2274361" y="1761107"/>
            <a:ext cx="6968975" cy="327809"/>
          </a:xfrm>
          <a:prstGeom prst="rect">
            <a:avLst/>
          </a:prstGeom>
          <a:noFill/>
          <a:ln>
            <a:noFill/>
          </a:ln>
        </p:spPr>
      </p:pic>
      <p:pic>
        <p:nvPicPr>
          <p:cNvPr id="158" name="Google Shape;158;p11"/>
          <p:cNvPicPr preferRelativeResize="0"/>
          <p:nvPr/>
        </p:nvPicPr>
        <p:blipFill rotWithShape="1">
          <a:blip r:embed="rId4">
            <a:alphaModFix/>
          </a:blip>
          <a:srcRect b="0" l="0" r="0" t="0"/>
          <a:stretch/>
        </p:blipFill>
        <p:spPr>
          <a:xfrm>
            <a:off x="2663758" y="2248413"/>
            <a:ext cx="6742269" cy="241545"/>
          </a:xfrm>
          <a:prstGeom prst="rect">
            <a:avLst/>
          </a:prstGeom>
          <a:noFill/>
          <a:ln>
            <a:noFill/>
          </a:ln>
        </p:spPr>
      </p:pic>
      <p:pic>
        <p:nvPicPr>
          <p:cNvPr id="159" name="Google Shape;159;p11"/>
          <p:cNvPicPr preferRelativeResize="0"/>
          <p:nvPr/>
        </p:nvPicPr>
        <p:blipFill rotWithShape="1">
          <a:blip r:embed="rId5">
            <a:alphaModFix/>
          </a:blip>
          <a:srcRect b="0" l="0" r="0" t="0"/>
          <a:stretch/>
        </p:blipFill>
        <p:spPr>
          <a:xfrm>
            <a:off x="2274361" y="2965675"/>
            <a:ext cx="6146800" cy="2476500"/>
          </a:xfrm>
          <a:prstGeom prst="rect">
            <a:avLst/>
          </a:prstGeom>
          <a:noFill/>
          <a:ln>
            <a:noFill/>
          </a:ln>
        </p:spPr>
      </p:pic>
      <p:pic>
        <p:nvPicPr>
          <p:cNvPr id="160" name="Google Shape;160;p11"/>
          <p:cNvPicPr preferRelativeResize="0"/>
          <p:nvPr/>
        </p:nvPicPr>
        <p:blipFill rotWithShape="1">
          <a:blip r:embed="rId6">
            <a:alphaModFix/>
          </a:blip>
          <a:srcRect b="0" l="0" r="0" t="0"/>
          <a:stretch/>
        </p:blipFill>
        <p:spPr>
          <a:xfrm>
            <a:off x="2663758" y="5917892"/>
            <a:ext cx="1181100" cy="7160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Arial"/>
              <a:buNone/>
            </a:pPr>
            <a:r>
              <a:rPr lang="en-US" sz="6600"/>
              <a:t>Linear Regression</a:t>
            </a:r>
            <a:endParaRPr/>
          </a:p>
        </p:txBody>
      </p:sp>
      <p:pic>
        <p:nvPicPr>
          <p:cNvPr id="166" name="Google Shape;166;p12"/>
          <p:cNvPicPr preferRelativeResize="0"/>
          <p:nvPr>
            <p:ph idx="1" type="body"/>
          </p:nvPr>
        </p:nvPicPr>
        <p:blipFill rotWithShape="1">
          <a:blip r:embed="rId3">
            <a:alphaModFix/>
          </a:blip>
          <a:srcRect b="0" l="0" r="0" t="0"/>
          <a:stretch/>
        </p:blipFill>
        <p:spPr>
          <a:xfrm>
            <a:off x="5779911" y="2429343"/>
            <a:ext cx="6398170" cy="87375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3"/>
          <p:cNvSpPr txBox="1"/>
          <p:nvPr>
            <p:ph type="title"/>
          </p:nvPr>
        </p:nvSpPr>
        <p:spPr>
          <a:xfrm>
            <a:off x="-1" y="18260"/>
            <a:ext cx="12188951" cy="131458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Arial"/>
              <a:buNone/>
            </a:pPr>
            <a:r>
              <a:rPr b="1" i="0" lang="en-US" sz="6000" cap="none">
                <a:latin typeface="Arial"/>
                <a:ea typeface="Arial"/>
                <a:cs typeface="Arial"/>
                <a:sym typeface="Arial"/>
              </a:rPr>
              <a:t>DATA EXPLORATION</a:t>
            </a:r>
            <a:endParaRPr/>
          </a:p>
        </p:txBody>
      </p:sp>
      <p:pic>
        <p:nvPicPr>
          <p:cNvPr id="172" name="Google Shape;172;p13"/>
          <p:cNvPicPr preferRelativeResize="0"/>
          <p:nvPr/>
        </p:nvPicPr>
        <p:blipFill rotWithShape="1">
          <a:blip r:embed="rId3">
            <a:alphaModFix/>
          </a:blip>
          <a:srcRect b="0" l="0" r="0" t="0"/>
          <a:stretch/>
        </p:blipFill>
        <p:spPr>
          <a:xfrm>
            <a:off x="253487" y="1415996"/>
            <a:ext cx="11827265" cy="53588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t>Data Exploration and Feature Selection</a:t>
            </a:r>
            <a:endParaRPr/>
          </a:p>
        </p:txBody>
      </p:sp>
      <p:pic>
        <p:nvPicPr>
          <p:cNvPr id="178" name="Google Shape;178;p14"/>
          <p:cNvPicPr preferRelativeResize="0"/>
          <p:nvPr>
            <p:ph idx="1" type="body"/>
          </p:nvPr>
        </p:nvPicPr>
        <p:blipFill rotWithShape="1">
          <a:blip r:embed="rId3">
            <a:alphaModFix/>
          </a:blip>
          <a:srcRect b="0" l="0" r="0" t="0"/>
          <a:stretch/>
        </p:blipFill>
        <p:spPr>
          <a:xfrm>
            <a:off x="5984378" y="1133942"/>
            <a:ext cx="6073832" cy="44703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t>Data Exploration and Feature Selection</a:t>
            </a:r>
            <a:endParaRPr/>
          </a:p>
        </p:txBody>
      </p:sp>
      <p:sp>
        <p:nvSpPr>
          <p:cNvPr id="184" name="Google Shape;184;p15"/>
          <p:cNvSpPr txBox="1"/>
          <p:nvPr>
            <p:ph idx="1" type="body"/>
          </p:nvPr>
        </p:nvSpPr>
        <p:spPr>
          <a:xfrm>
            <a:off x="5779911" y="136524"/>
            <a:ext cx="5303044" cy="812907"/>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Correlation matrices</a:t>
            </a:r>
            <a:endParaRPr/>
          </a:p>
          <a:p>
            <a:pPr indent="-114300" lvl="0" marL="228600" rtl="0" algn="l">
              <a:lnSpc>
                <a:spcPct val="90000"/>
              </a:lnSpc>
              <a:spcBef>
                <a:spcPts val="1000"/>
              </a:spcBef>
              <a:spcAft>
                <a:spcPts val="0"/>
              </a:spcAft>
              <a:buClr>
                <a:schemeClr val="dk1"/>
              </a:buClr>
              <a:buSzPts val="1800"/>
              <a:buNone/>
            </a:pPr>
            <a:r>
              <a:t/>
            </a:r>
            <a:endParaRPr sz="1800"/>
          </a:p>
        </p:txBody>
      </p:sp>
      <p:pic>
        <p:nvPicPr>
          <p:cNvPr id="185" name="Google Shape;185;p15"/>
          <p:cNvPicPr preferRelativeResize="0"/>
          <p:nvPr/>
        </p:nvPicPr>
        <p:blipFill rotWithShape="1">
          <a:blip r:embed="rId3">
            <a:alphaModFix/>
          </a:blip>
          <a:srcRect b="0" l="0" r="0" t="0"/>
          <a:stretch/>
        </p:blipFill>
        <p:spPr>
          <a:xfrm>
            <a:off x="5810769" y="2092960"/>
            <a:ext cx="6381223" cy="32387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7200"/>
              <a:buFont typeface="Arial"/>
              <a:buNone/>
            </a:pPr>
            <a:r>
              <a:rPr lang="en-US" sz="7200"/>
              <a:t>CR Plots</a:t>
            </a:r>
            <a:endParaRPr/>
          </a:p>
        </p:txBody>
      </p:sp>
      <p:pic>
        <p:nvPicPr>
          <p:cNvPr id="191" name="Google Shape;191;p16"/>
          <p:cNvPicPr preferRelativeResize="0"/>
          <p:nvPr>
            <p:ph idx="1" type="body"/>
          </p:nvPr>
        </p:nvPicPr>
        <p:blipFill rotWithShape="1">
          <a:blip r:embed="rId3">
            <a:alphaModFix/>
          </a:blip>
          <a:srcRect b="0" l="0" r="0" t="0"/>
          <a:stretch/>
        </p:blipFill>
        <p:spPr>
          <a:xfrm>
            <a:off x="6412090" y="2233885"/>
            <a:ext cx="5464949" cy="257596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7"/>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7200"/>
              <a:buFont typeface="Arial"/>
              <a:buNone/>
            </a:pPr>
            <a:r>
              <a:rPr lang="en-US" sz="7200"/>
              <a:t>Spread Level</a:t>
            </a:r>
            <a:r>
              <a:rPr lang="en-US" sz="7200">
                <a:solidFill>
                  <a:schemeClr val="lt1"/>
                </a:solidFill>
              </a:rPr>
              <a:t> Plots</a:t>
            </a:r>
            <a:endParaRPr/>
          </a:p>
        </p:txBody>
      </p:sp>
      <p:pic>
        <p:nvPicPr>
          <p:cNvPr id="197" name="Google Shape;197;p17"/>
          <p:cNvPicPr preferRelativeResize="0"/>
          <p:nvPr>
            <p:ph idx="1" type="body"/>
          </p:nvPr>
        </p:nvPicPr>
        <p:blipFill rotWithShape="1">
          <a:blip r:embed="rId3">
            <a:alphaModFix/>
          </a:blip>
          <a:srcRect b="0" l="0" r="0" t="0"/>
          <a:stretch/>
        </p:blipFill>
        <p:spPr>
          <a:xfrm>
            <a:off x="6096000" y="1443221"/>
            <a:ext cx="5567667" cy="43165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Arial"/>
              <a:buNone/>
            </a:pPr>
            <a:r>
              <a:rPr lang="en-US" sz="6600"/>
              <a:t>Linear Regression</a:t>
            </a:r>
            <a:endParaRPr/>
          </a:p>
        </p:txBody>
      </p:sp>
      <p:sp>
        <p:nvSpPr>
          <p:cNvPr id="203" name="Google Shape;203;p18"/>
          <p:cNvSpPr txBox="1"/>
          <p:nvPr>
            <p:ph idx="1" type="body"/>
          </p:nvPr>
        </p:nvSpPr>
        <p:spPr>
          <a:xfrm>
            <a:off x="6096000" y="381935"/>
            <a:ext cx="4986955" cy="597441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Anova score</a:t>
            </a:r>
            <a:endParaRPr/>
          </a:p>
          <a:p>
            <a:pPr indent="-228600" lvl="0" marL="228600" rtl="0" algn="l">
              <a:lnSpc>
                <a:spcPct val="90000"/>
              </a:lnSpc>
              <a:spcBef>
                <a:spcPts val="1000"/>
              </a:spcBef>
              <a:spcAft>
                <a:spcPts val="0"/>
              </a:spcAft>
              <a:buClr>
                <a:schemeClr val="dk1"/>
              </a:buClr>
              <a:buSzPts val="1800"/>
              <a:buChar char="•"/>
            </a:pPr>
            <a:r>
              <a:rPr lang="en-US" sz="1800"/>
              <a:t>AIC Score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1188069" y="381935"/>
            <a:ext cx="4008583" cy="597441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lang="en-US" sz="6000"/>
              <a:t>Logistic Regression</a:t>
            </a:r>
            <a:endParaRPr/>
          </a:p>
        </p:txBody>
      </p:sp>
      <p:pic>
        <p:nvPicPr>
          <p:cNvPr id="209" name="Google Shape;209;p19"/>
          <p:cNvPicPr preferRelativeResize="0"/>
          <p:nvPr>
            <p:ph idx="1" type="body"/>
          </p:nvPr>
        </p:nvPicPr>
        <p:blipFill rotWithShape="1">
          <a:blip r:embed="rId3">
            <a:alphaModFix/>
          </a:blip>
          <a:srcRect b="0" l="0" r="0" t="0"/>
          <a:stretch/>
        </p:blipFill>
        <p:spPr>
          <a:xfrm>
            <a:off x="6196543" y="440498"/>
            <a:ext cx="5422741" cy="793013"/>
          </a:xfrm>
          <a:prstGeom prst="rect">
            <a:avLst/>
          </a:prstGeom>
          <a:noFill/>
          <a:ln>
            <a:noFill/>
          </a:ln>
        </p:spPr>
      </p:pic>
      <p:pic>
        <p:nvPicPr>
          <p:cNvPr id="210" name="Google Shape;210;p19"/>
          <p:cNvPicPr preferRelativeResize="0"/>
          <p:nvPr/>
        </p:nvPicPr>
        <p:blipFill rotWithShape="1">
          <a:blip r:embed="rId4">
            <a:alphaModFix/>
          </a:blip>
          <a:srcRect b="0" l="0" r="0" t="0"/>
          <a:stretch/>
        </p:blipFill>
        <p:spPr>
          <a:xfrm>
            <a:off x="6096000" y="1674009"/>
            <a:ext cx="2911678" cy="2288820"/>
          </a:xfrm>
          <a:prstGeom prst="rect">
            <a:avLst/>
          </a:prstGeom>
          <a:noFill/>
          <a:ln>
            <a:noFill/>
          </a:ln>
        </p:spPr>
      </p:pic>
      <p:pic>
        <p:nvPicPr>
          <p:cNvPr id="211" name="Google Shape;211;p19"/>
          <p:cNvPicPr preferRelativeResize="0"/>
          <p:nvPr/>
        </p:nvPicPr>
        <p:blipFill rotWithShape="1">
          <a:blip r:embed="rId5">
            <a:alphaModFix/>
          </a:blip>
          <a:srcRect b="0" l="0" r="0" t="0"/>
          <a:stretch/>
        </p:blipFill>
        <p:spPr>
          <a:xfrm>
            <a:off x="8597905" y="1685828"/>
            <a:ext cx="3398031" cy="1990536"/>
          </a:xfrm>
          <a:prstGeom prst="rect">
            <a:avLst/>
          </a:prstGeom>
          <a:noFill/>
          <a:ln>
            <a:noFill/>
          </a:ln>
        </p:spPr>
      </p:pic>
      <p:pic>
        <p:nvPicPr>
          <p:cNvPr id="212" name="Google Shape;212;p19"/>
          <p:cNvPicPr preferRelativeResize="0"/>
          <p:nvPr/>
        </p:nvPicPr>
        <p:blipFill rotWithShape="1">
          <a:blip r:embed="rId6">
            <a:alphaModFix/>
          </a:blip>
          <a:srcRect b="0" l="0" r="0" t="0"/>
          <a:stretch/>
        </p:blipFill>
        <p:spPr>
          <a:xfrm>
            <a:off x="6163404" y="3780018"/>
            <a:ext cx="5522811" cy="2965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2020-12-13T21:08:17Z</dcterms:created>
  <dc:creator>Muhua Guo</dc:creator>
</cp:coreProperties>
</file>